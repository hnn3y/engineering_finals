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17"/>
  </p:notesMasterIdLst>
  <p:handoutMasterIdLst>
    <p:handoutMasterId r:id="rId18"/>
  </p:handoutMasterIdLst>
  <p:sldIdLst>
    <p:sldId id="289" r:id="rId5"/>
    <p:sldId id="276" r:id="rId6"/>
    <p:sldId id="283" r:id="rId7"/>
    <p:sldId id="261" r:id="rId8"/>
    <p:sldId id="257" r:id="rId9"/>
    <p:sldId id="264" r:id="rId10"/>
    <p:sldId id="265" r:id="rId11"/>
    <p:sldId id="263" r:id="rId12"/>
    <p:sldId id="268" r:id="rId13"/>
    <p:sldId id="266" r:id="rId14"/>
    <p:sldId id="267" r:id="rId15"/>
    <p:sldId id="26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94" autoAdjust="0"/>
  </p:normalViewPr>
  <p:slideViewPr>
    <p:cSldViewPr snapToGrid="0">
      <p:cViewPr varScale="1">
        <p:scale>
          <a:sx n="71" d="100"/>
          <a:sy n="71" d="100"/>
        </p:scale>
        <p:origin x="702" y="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45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52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402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7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99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698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8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2980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733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806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817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6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67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209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53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767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602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131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4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46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593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467025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7620" y="4766434"/>
            <a:ext cx="12207240" cy="212140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460601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CF0EA4-D201-44E7-3558-D05CB4233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643EA3-ACAA-539C-A041-266A895A2B1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81E18B-2347-8DB6-2A7F-3EAC100A4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072" y="4027992"/>
            <a:ext cx="5028565" cy="1894972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183508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CBD635-4863-B127-5668-D2C7DA8C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629720-DD91-8012-686D-AABA4398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0117" y="185195"/>
            <a:ext cx="6930838" cy="150549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B27827-7491-B1C2-D9C5-975A9FF66E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8788" y="-22860"/>
            <a:ext cx="329184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D4D4555-A25D-09B6-36AF-5977189F2DD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0116" y="2022395"/>
            <a:ext cx="6941703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1800"/>
            </a:lvl1pPr>
            <a:lvl2pPr>
              <a:spcBef>
                <a:spcPts val="1000"/>
              </a:spcBef>
              <a:spcAft>
                <a:spcPts val="1500"/>
              </a:spcAft>
              <a:defRPr sz="1800"/>
            </a:lvl2pPr>
            <a:lvl3pPr>
              <a:spcBef>
                <a:spcPts val="1000"/>
              </a:spcBef>
              <a:spcAft>
                <a:spcPts val="1500"/>
              </a:spcAft>
              <a:defRPr sz="1800"/>
            </a:lvl3pPr>
            <a:lvl4pPr>
              <a:spcBef>
                <a:spcPts val="1000"/>
              </a:spcBef>
              <a:spcAft>
                <a:spcPts val="1500"/>
              </a:spcAft>
              <a:defRPr sz="1800"/>
            </a:lvl4pPr>
            <a:lvl5pPr>
              <a:spcBef>
                <a:spcPts val="1000"/>
              </a:spcBef>
              <a:spcAft>
                <a:spcPts val="1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11334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>
            <a:extLst>
              <a:ext uri="{FF2B5EF4-FFF2-40B4-BE49-F238E27FC236}">
                <a16:creationId xmlns:a16="http://schemas.microsoft.com/office/drawing/2014/main" id="{C4293765-78A6-5206-26C2-E8817B283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470792" cy="6858000"/>
          </a:xfrm>
          <a:custGeom>
            <a:avLst/>
            <a:gdLst>
              <a:gd name="connsiteX0" fmla="*/ 0 w 7470792"/>
              <a:gd name="connsiteY0" fmla="*/ 0 h 6858000"/>
              <a:gd name="connsiteX1" fmla="*/ 7470792 w 7470792"/>
              <a:gd name="connsiteY1" fmla="*/ 0 h 6858000"/>
              <a:gd name="connsiteX2" fmla="*/ 5633197 w 7470792"/>
              <a:gd name="connsiteY2" fmla="*/ 6858000 h 6858000"/>
              <a:gd name="connsiteX3" fmla="*/ 0 w 74707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792" h="6858000">
                <a:moveTo>
                  <a:pt x="0" y="0"/>
                </a:moveTo>
                <a:lnTo>
                  <a:pt x="7470792" y="0"/>
                </a:lnTo>
                <a:lnTo>
                  <a:pt x="563319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n>
                <a:noFill/>
              </a:ln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4E351F-7451-86A3-5271-0D00B9EFA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860223-A40E-30ED-6832-0825A930B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B6907E-F17B-783E-D454-DFC62D097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B12211-7E94-9534-6F2D-2AFD2EBE3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580245-E985-EC3F-9385-D0F517F0C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5A82A3-E3DF-978F-4BD7-10E0F1075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DC40AE-D1CB-7535-22E2-E6D910FB8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685800"/>
            <a:ext cx="9144000" cy="3136738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978800"/>
            <a:ext cx="9144000" cy="1965960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711713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5481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D9208B-0FD2-A7E3-5202-0F18392AE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4010E2-9C6F-C582-1E3A-F5D43D0FF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D2B8AF-94DE-C211-EAE7-0971C111B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47A2AC-F284-077E-9A14-EB7D1DE62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E91F1F-5151-2442-2B89-CE0AB1178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BD82AC-3C5B-819E-E0FF-157D74B84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299648-2E6E-FA0D-85E4-8884BE34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07BD0263-5D42-E696-F170-1F9CF5FF2A7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38199" y="2078963"/>
            <a:ext cx="3435628" cy="4067492"/>
          </a:xfrm>
        </p:spPr>
        <p:txBody>
          <a:bodyPr>
            <a:normAutofit/>
          </a:bodyPr>
          <a:lstStyle>
            <a:lvl1pPr marL="4572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eriod"/>
              <a:defRPr sz="1800"/>
            </a:lvl1pPr>
            <a:lvl2pPr marL="9144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eriod"/>
              <a:defRPr sz="1800"/>
            </a:lvl2pPr>
            <a:lvl3pPr marL="13716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arenR"/>
              <a:defRPr sz="1800"/>
            </a:lvl3pPr>
            <a:lvl4pPr marL="18288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arenR"/>
              <a:defRPr sz="1800"/>
            </a:lvl4pPr>
            <a:lvl5pPr marL="2228850" indent="-457200">
              <a:spcBef>
                <a:spcPts val="1000"/>
              </a:spcBef>
              <a:spcAft>
                <a:spcPts val="500"/>
              </a:spcAft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1BEE7174-135F-6F9F-11B9-3C3F2F9CDEA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65539" y="2087315"/>
            <a:ext cx="6007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5297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0B3A65-BB60-F2B4-4CF4-19A7C53F1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1DB8D5-B954-BFC9-C8D8-F0491CCBE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07D69F-27D7-2C68-A17D-3F1399C8B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2055813"/>
            <a:ext cx="5781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6991" y="-22860"/>
            <a:ext cx="4625008" cy="6903720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3283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45A11E-9896-BD8B-8CC6-A79C124D8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86022B-53D6-6CE0-2093-873FC64A5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D4BD8F-684C-A145-3376-9E69B0E5B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7C1DA9-2A25-EE21-085B-8857DC1AD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236BB3-E567-A8A9-5EC2-BCEF79CFC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A87C9F-C765-C63C-951E-70721DDAC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425665-0C9C-3899-9DB9-ED05D91E2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33040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137059"/>
            <a:ext cx="2816352" cy="398624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109014" y="2137059"/>
            <a:ext cx="7059592" cy="398624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dirty="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173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9C8ABD-000F-7A94-A7B0-9589F4FEF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C3A554-E5A9-B3CB-913D-45DBFBA79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3A8DF3-F55A-2494-C55D-8FB94BBC6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9DC86E-6F8A-B036-5CB2-AA8A79837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9E0C03-C633-9356-4E28-678BAB7A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C8A4F7-6C4C-719B-298F-3B81223D1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7E5D8B-D6BC-19AE-C0C9-249A55617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A6C5266-7ECA-B150-2C0F-8670F43AC82D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8200" y="1987669"/>
            <a:ext cx="6974711" cy="429767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800"/>
            </a:lvl2pPr>
            <a:lvl3pPr>
              <a:spcBef>
                <a:spcPts val="1000"/>
              </a:spcBef>
              <a:spcAft>
                <a:spcPts val="500"/>
              </a:spcAft>
              <a:defRPr sz="1800"/>
            </a:lvl3pPr>
            <a:lvl4pPr>
              <a:spcBef>
                <a:spcPts val="1000"/>
              </a:spcBef>
              <a:spcAft>
                <a:spcPts val="500"/>
              </a:spcAft>
              <a:defRPr sz="1800"/>
            </a:lvl4pPr>
            <a:lvl5pPr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17085" y="1987670"/>
            <a:ext cx="343671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2737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7588714-FE55-FCEF-78C2-2A4D11ECD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F6BF02-4CD8-261B-BE58-05677EB94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AF1F17-7A1F-BCA2-15C0-417928B4E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F0ADE0B-D150-E72B-EE9A-E5EFDBC6F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BBCDD5A-A3C4-DF4F-74AD-CAF0F465B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430AE4-C878-DFAB-EDA5-36B97176D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1487B2-0348-2FFC-03FB-6508B6FD3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2125262"/>
            <a:ext cx="10515600" cy="3675944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785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1373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391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Self-Balancing two-wheel robot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D21B7CD-3D69-26B5-8A0B-52A19A6B0A2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20" b="10520"/>
          <a:stretch/>
        </p:blipFill>
        <p:spPr>
          <a:xfrm>
            <a:off x="4958320" y="992187"/>
            <a:ext cx="6172200" cy="4873625"/>
          </a:xfr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49C38B-7171-1D1C-8AC5-7C8977CDA7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3493" y="2057400"/>
            <a:ext cx="3932237" cy="878263"/>
          </a:xfrm>
        </p:spPr>
        <p:txBody>
          <a:bodyPr>
            <a:noAutofit/>
          </a:bodyPr>
          <a:lstStyle/>
          <a:p>
            <a:pPr algn="ctr"/>
            <a:r>
              <a:rPr lang="en-GB" sz="1800" b="1" dirty="0">
                <a:latin typeface="+mj-lt"/>
              </a:rPr>
              <a:t>Terrain Perception &amp; Obstacle Crossing of Two-Wheel Self-Balancing Robot</a:t>
            </a:r>
            <a:endParaRPr lang="en-NG" sz="18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538163"/>
            <a:ext cx="9144000" cy="661987"/>
          </a:xfrm>
          <a:noFill/>
        </p:spPr>
        <p:txBody>
          <a:bodyPr anchor="b">
            <a:normAutofit fontScale="90000"/>
          </a:bodyPr>
          <a:lstStyle/>
          <a:p>
            <a:r>
              <a:rPr lang="en-US" dirty="0"/>
              <a:t>Background and Motivation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E3725-2476-655B-27EC-5AAC53A68A12}"/>
              </a:ext>
            </a:extLst>
          </p:cNvPr>
          <p:cNvSpPr txBox="1"/>
          <p:nvPr/>
        </p:nvSpPr>
        <p:spPr>
          <a:xfrm>
            <a:off x="0" y="1200150"/>
            <a:ext cx="80323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eorgia" panose="02040502050405020303" pitchFamily="18" charset="0"/>
              </a:rPr>
              <a:t>The two-wheeled balancing robot is a classic </a:t>
            </a:r>
            <a:r>
              <a:rPr lang="en-US" sz="2000" b="1" dirty="0">
                <a:latin typeface="Georgia" panose="02040502050405020303" pitchFamily="18" charset="0"/>
              </a:rPr>
              <a:t>inverted pendulum</a:t>
            </a:r>
            <a:r>
              <a:rPr lang="en-US" sz="2000" dirty="0">
                <a:latin typeface="Georgia" panose="02040502050405020303" pitchFamily="18" charset="0"/>
              </a:rPr>
              <a:t> problem — inherently unstable, nonlinear, and underactuated.</a:t>
            </a:r>
            <a:endParaRPr lang="en-NG" sz="2000" dirty="0">
              <a:latin typeface="Georgia" panose="020405020504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6B722D-9919-E3B6-7D3D-90A3E7766770}"/>
              </a:ext>
            </a:extLst>
          </p:cNvPr>
          <p:cNvSpPr txBox="1"/>
          <p:nvPr/>
        </p:nvSpPr>
        <p:spPr>
          <a:xfrm>
            <a:off x="0" y="1908036"/>
            <a:ext cx="6526306" cy="3749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821088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019" y="627529"/>
            <a:ext cx="6978669" cy="1473033"/>
          </a:xfrm>
          <a:noFill/>
        </p:spPr>
        <p:txBody>
          <a:bodyPr>
            <a:noAutofit/>
          </a:bodyPr>
          <a:lstStyle/>
          <a:p>
            <a:pPr algn="ctr"/>
            <a:r>
              <a:rPr lang="en-US" dirty="0"/>
              <a:t>RESEARCH 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8248" y="2481514"/>
            <a:ext cx="5028565" cy="4376486"/>
          </a:xfrm>
          <a:noFill/>
        </p:spPr>
        <p:txBody>
          <a:bodyPr anchor="t"/>
          <a:lstStyle/>
          <a:p>
            <a:r>
              <a:rPr lang="en-US" dirty="0">
                <a:solidFill>
                  <a:schemeClr val="tx1"/>
                </a:solidFill>
              </a:rPr>
              <a:t>1. D</a:t>
            </a:r>
            <a:r>
              <a:rPr lang="en-US" sz="1600" dirty="0">
                <a:solidFill>
                  <a:schemeClr val="tx1"/>
                </a:solidFill>
              </a:rPr>
              <a:t>esign and build a low-cost, IMU-based two-wheel self-balancing robot</a:t>
            </a:r>
          </a:p>
          <a:p>
            <a:r>
              <a:rPr lang="en-US" sz="1600" dirty="0">
                <a:solidFill>
                  <a:schemeClr val="tx1"/>
                </a:solidFill>
              </a:rPr>
              <a:t>2. Implement and tune a baseline control algorithm for flat surfaces</a:t>
            </a:r>
          </a:p>
          <a:p>
            <a:r>
              <a:rPr lang="en-US" sz="1600" dirty="0">
                <a:solidFill>
                  <a:schemeClr val="tx1"/>
                </a:solidFill>
              </a:rPr>
              <a:t>3. EXTEND TESTING TO a defined set OF UNEVEN SURFACES (BUMPS, INCLINE, LOOSE TERRAIN)</a:t>
            </a:r>
          </a:p>
          <a:p>
            <a:r>
              <a:rPr lang="en-US" sz="1600" dirty="0">
                <a:solidFill>
                  <a:schemeClr val="tx1"/>
                </a:solidFill>
              </a:rPr>
              <a:t>4. COMPARE STABILITY AND PERFORMANCE ACROSS TERRAIN TYPES USING MEASURABLE DATA</a:t>
            </a:r>
          </a:p>
          <a:p>
            <a:r>
              <a:rPr lang="en-US" sz="1600" dirty="0">
                <a:solidFill>
                  <a:schemeClr val="tx1"/>
                </a:solidFill>
              </a:rPr>
              <a:t>5. </a:t>
            </a:r>
            <a:r>
              <a:rPr lang="en-US" sz="1600">
                <a:solidFill>
                  <a:schemeClr val="tx1"/>
                </a:solidFill>
              </a:rPr>
              <a:t>IDENTIFY DESIGN OR CONTROL IMPROVEMENTS SUITED TO UNEVEN-TERRAIN OPERATION.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3" name="Picture Placeholder 42" descr="A plane flying over a city">
            <a:extLst>
              <a:ext uri="{FF2B5EF4-FFF2-40B4-BE49-F238E27FC236}">
                <a16:creationId xmlns:a16="http://schemas.microsoft.com/office/drawing/2014/main" id="{9100BC91-12A3-DE75-3F38-9C17D39DC5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" r="39"/>
          <a:stretch/>
        </p:blipFill>
        <p:spPr/>
      </p:pic>
    </p:spTree>
    <p:extLst>
      <p:ext uri="{BB962C8B-B14F-4D97-AF65-F5344CB8AC3E}">
        <p14:creationId xmlns:p14="http://schemas.microsoft.com/office/powerpoint/2010/main" val="4242039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/>
              <a:t>ENGAGING THE AUDIENCE</a:t>
            </a:r>
            <a:endParaRPr lang="en-US" dirty="0"/>
          </a:p>
        </p:txBody>
      </p:sp>
      <p:pic>
        <p:nvPicPr>
          <p:cNvPr id="24" name="Picture Placeholder 7" descr="Looking up view of tall buildings">
            <a:extLst>
              <a:ext uri="{FF2B5EF4-FFF2-40B4-BE49-F238E27FC236}">
                <a16:creationId xmlns:a16="http://schemas.microsoft.com/office/drawing/2014/main" id="{A672B903-78EE-718A-C122-69D51207883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" b="61"/>
          <a:stretch/>
        </p:blipFill>
        <p:spPr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/>
          <a:lstStyle/>
          <a:p>
            <a:r>
              <a:rPr lang="en-US"/>
              <a:t>SELECTING VISUAL AIDS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dirty="0"/>
              <a:t>This is a powerful tool in public speaking. It involves varying pitch, tone, and volume to convey emotion, emphasize points, and maintain interest.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302BFD-960F-CBB3-E984-CDC12813A10C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/>
              <a:t>Know your material in advance</a:t>
            </a:r>
          </a:p>
          <a:p>
            <a:r>
              <a:rPr lang="en-US"/>
              <a:t>Anticipate common questions</a:t>
            </a:r>
          </a:p>
          <a:p>
            <a:r>
              <a:rPr lang="en-US"/>
              <a:t>Rehearse your responses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/>
              <a:t>Stay calm</a:t>
            </a:r>
          </a:p>
          <a:p>
            <a:pPr lvl="1"/>
            <a:r>
              <a:rPr lang="en-US"/>
              <a:t>Actively listen</a:t>
            </a:r>
          </a:p>
          <a:p>
            <a:pPr lvl="1"/>
            <a:r>
              <a:rPr lang="en-US"/>
              <a:t>Pause and reflect</a:t>
            </a:r>
          </a:p>
          <a:p>
            <a:pPr lvl="1"/>
            <a:r>
              <a:rPr lang="en-US"/>
              <a:t>Maintain eye contact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SPEAKING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Your ability to communicate effectively </a:t>
            </a:r>
            <a:br>
              <a:rPr lang="en-US" dirty="0"/>
            </a:br>
            <a:r>
              <a:rPr lang="en-US" dirty="0"/>
              <a:t>will leave a lasting impact on your </a:t>
            </a:r>
            <a:br>
              <a:rPr lang="en-US" dirty="0"/>
            </a:br>
            <a:r>
              <a:rPr lang="en-US" dirty="0"/>
              <a:t>audience</a:t>
            </a:r>
          </a:p>
          <a:p>
            <a:r>
              <a:rPr lang="en-US" dirty="0"/>
              <a:t>Effectively communicating involves not </a:t>
            </a:r>
            <a:br>
              <a:rPr lang="en-US" dirty="0"/>
            </a:br>
            <a:r>
              <a:rPr lang="en-US" dirty="0"/>
              <a:t>only delivering a message but also </a:t>
            </a:r>
            <a:br>
              <a:rPr lang="en-US" dirty="0"/>
            </a:br>
            <a:r>
              <a:rPr lang="en-US" dirty="0"/>
              <a:t>resonating with the experiences, values, </a:t>
            </a:r>
            <a:br>
              <a:rPr lang="en-US" dirty="0"/>
            </a:br>
            <a:r>
              <a:rPr lang="en-US" dirty="0"/>
              <a:t>and emotions of those listening </a:t>
            </a:r>
          </a:p>
        </p:txBody>
      </p:sp>
      <p:pic>
        <p:nvPicPr>
          <p:cNvPr id="20" name="Picture Placeholder 19" descr="City lights at night">
            <a:extLst>
              <a:ext uri="{FF2B5EF4-FFF2-40B4-BE49-F238E27FC236}">
                <a16:creationId xmlns:a16="http://schemas.microsoft.com/office/drawing/2014/main" id="{E5D7764F-CE06-1A00-3555-ACAE6ACDFE1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/>
      </p:pic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DYNAMIC DELIVERY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3" name="Table Placeholder 2">
            <a:extLst>
              <a:ext uri="{FF2B5EF4-FFF2-40B4-BE49-F238E27FC236}">
                <a16:creationId xmlns:a16="http://schemas.microsoft.com/office/drawing/2014/main" id="{F01CF5D3-D3B1-1944-CFDF-D8EE11DE42AA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132532233"/>
              </p:ext>
            </p:extLst>
          </p:nvPr>
        </p:nvGraphicFramePr>
        <p:xfrm>
          <a:off x="4108450" y="2136775"/>
          <a:ext cx="7059592" cy="3872023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76489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764898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764898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764898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11525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82969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82969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82969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82969"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832813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Consistent rehearsal</a:t>
            </a:r>
          </a:p>
          <a:p>
            <a:pPr lvl="1"/>
            <a:r>
              <a:rPr lang="en-US"/>
              <a:t>Strengthen your familiarity</a:t>
            </a:r>
          </a:p>
          <a:p>
            <a:r>
              <a:rPr lang="en-US"/>
              <a:t>Refine delivery style</a:t>
            </a:r>
          </a:p>
          <a:p>
            <a:pPr lvl="1"/>
            <a:r>
              <a:rPr lang="en-US"/>
              <a:t>Pacing, tone, and emphasis</a:t>
            </a:r>
          </a:p>
          <a:p>
            <a:r>
              <a:rPr lang="en-US"/>
              <a:t>Timing and transitions</a:t>
            </a:r>
          </a:p>
          <a:p>
            <a:pPr lvl="1"/>
            <a:r>
              <a:rPr lang="en-US"/>
              <a:t>Aim for seamless, professional delivery</a:t>
            </a:r>
          </a:p>
          <a:p>
            <a:r>
              <a:rPr lang="en-US"/>
              <a:t>Practice audience</a:t>
            </a:r>
          </a:p>
          <a:p>
            <a:pPr lvl="1"/>
            <a:r>
              <a:rPr lang="en-US"/>
              <a:t>Enlist colleagues to listen &amp; provide feedback</a:t>
            </a:r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/>
              <a:t>Seek feedback</a:t>
            </a:r>
          </a:p>
          <a:p>
            <a:r>
              <a:rPr lang="en-US"/>
              <a:t>Reflect on performance</a:t>
            </a:r>
          </a:p>
          <a:p>
            <a:r>
              <a:rPr lang="en-US"/>
              <a:t>Explore new techniques</a:t>
            </a:r>
          </a:p>
          <a:p>
            <a:r>
              <a:rPr lang="en-US"/>
              <a:t>Set personal goals</a:t>
            </a:r>
          </a:p>
          <a:p>
            <a:r>
              <a:rPr lang="en-US"/>
              <a:t>Iterate and adapt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19" name="Table Placeholder 3">
            <a:extLst>
              <a:ext uri="{FF2B5EF4-FFF2-40B4-BE49-F238E27FC236}">
                <a16:creationId xmlns:a16="http://schemas.microsoft.com/office/drawing/2014/main" id="{998759BF-36E2-2AC0-C9B8-88C6BF075154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98846581"/>
              </p:ext>
            </p:extLst>
          </p:nvPr>
        </p:nvGraphicFramePr>
        <p:xfrm>
          <a:off x="838200" y="2125663"/>
          <a:ext cx="10515600" cy="3627358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598946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598946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598946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615787"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598946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615787"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5" descr="Close-up of a bridge with wires">
            <a:extLst>
              <a:ext uri="{FF2B5EF4-FFF2-40B4-BE49-F238E27FC236}">
                <a16:creationId xmlns:a16="http://schemas.microsoft.com/office/drawing/2014/main" id="{E461669C-A7BA-D639-22CB-B5FBBE698B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r="20"/>
          <a:stretch/>
        </p:blipFill>
        <p:spPr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b"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 anchor="t">
            <a:normAutofit/>
          </a:bodyPr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4D4B218-C04B-41F5-949D-06E9DAE96B0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1846AD4-435D-4592-8088-FE2831A30D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6283731-47E9-4F14-86D1-57C1EA2672A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AngleLinesVTI</Template>
  <TotalTime>18647</TotalTime>
  <Words>506</Words>
  <Application>Microsoft Office PowerPoint</Application>
  <PresentationFormat>Widescreen</PresentationFormat>
  <Paragraphs>122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Calibri</vt:lpstr>
      <vt:lpstr>Georgia</vt:lpstr>
      <vt:lpstr>Univers Condensed Light</vt:lpstr>
      <vt:lpstr>Walbaum Display Light</vt:lpstr>
      <vt:lpstr>AngleLinesVTI</vt:lpstr>
      <vt:lpstr>Self-Balancing two-wheel robot</vt:lpstr>
      <vt:lpstr>Background and Motivation</vt:lpstr>
      <vt:lpstr>RESEARCH OBJECTIVES</vt:lpstr>
      <vt:lpstr>ENGAGING THE AUDIENCE</vt:lpstr>
      <vt:lpstr>SELECTING VISUAL AIDS</vt:lpstr>
      <vt:lpstr>EFFECTIVE DELIVERY TECHNIQUES</vt:lpstr>
      <vt:lpstr>NAVIGATING Q&amp;A SESSIONS</vt:lpstr>
      <vt:lpstr>SPEAKING IMPACT</vt:lpstr>
      <vt:lpstr>DYNAMIC DELIVERY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Eniola</dc:creator>
  <cp:lastModifiedBy>Enijeshiku Eniola</cp:lastModifiedBy>
  <cp:revision>4</cp:revision>
  <dcterms:created xsi:type="dcterms:W3CDTF">2026-08-15T13:21:57Z</dcterms:created>
  <dcterms:modified xsi:type="dcterms:W3CDTF">2026-08-31T11:12:04Z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